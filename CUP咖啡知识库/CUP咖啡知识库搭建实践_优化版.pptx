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未经清洗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版本冲突</c:v>
                </c:pt>
                <c:pt idx="1">
                  <c:v>测试误用</c:v>
                </c:pt>
                <c:pt idx="2">
                  <c:v>机密泄露</c:v>
                </c:pt>
                <c:pt idx="3">
                  <c:v>时效混淆</c:v>
                </c:pt>
                <c:pt idx="4">
                  <c:v>内容重复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20</c:v>
                </c:pt>
                <c:pt idx="1">
                  <c:v>35</c:v>
                </c:pt>
                <c:pt idx="2">
                  <c:v>10</c:v>
                </c:pt>
                <c:pt idx="3">
                  <c:v>30</c:v>
                </c:pt>
                <c:pt idx="4">
                  <c:v>40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已清洗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版本冲突</c:v>
                </c:pt>
                <c:pt idx="1">
                  <c:v>测试误用</c:v>
                </c:pt>
                <c:pt idx="2">
                  <c:v>机密泄露</c:v>
                </c:pt>
                <c:pt idx="3">
                  <c:v>时效混淆</c:v>
                </c:pt>
                <c:pt idx="4">
                  <c:v>内容重复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1825935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8C7864"/>
                </a:solidFill>
              </a:defRPr>
            </a:pPr>
            <a: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11825935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C7864"/>
                </a:solidFill>
              </a:defRPr>
            </a:pPr>
            <a:r>
              <a:t>CUP咖啡 · 知识库搭建实践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443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0"/>
            <a:ext cx="54864" cy="685800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011680"/>
            <a:ext cx="987552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200"/>
              </a:spcAft>
              <a:defRPr sz="4000" b="1">
                <a:solidFill>
                  <a:srgbClr val="44301E"/>
                </a:solidFill>
              </a:defRPr>
            </a:pPr>
            <a:r>
              <a:t>从素材到知识库</a:t>
            </a:r>
          </a:p>
          <a:p>
            <a:pPr algn="l">
              <a:defRPr sz="2000" b="0">
                <a:solidFill>
                  <a:srgbClr val="8C7864"/>
                </a:solidFill>
              </a:defRPr>
            </a:pPr>
            <a:r>
              <a:t>CUP咖啡 · 知识库搭建实战复盘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1825935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8C7864"/>
                </a:solidFill>
              </a:defRPr>
            </a:pPr>
            <a: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11825935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C7864"/>
                </a:solidFill>
              </a:defRPr>
            </a:pPr>
            <a:r>
              <a:t>CUP咖啡 · 知识库搭建实践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443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目录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645920"/>
            <a:ext cx="9448495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400"/>
              </a:spcAft>
              <a:defRPr sz="2000" b="1">
                <a:solidFill>
                  <a:srgbClr val="D4A574"/>
                </a:solidFill>
              </a:defRPr>
            </a:pPr>
            <a:r>
              <a:t>01  01 风险诊断 — 11份素材里藏着哪些定时炸弹？</a:t>
            </a:r>
          </a:p>
          <a:p>
            <a:pPr algn="l">
              <a:spcAft>
                <a:spcPts val="1400"/>
              </a:spcAft>
              <a:defRPr sz="2000" b="0">
                <a:solidFill>
                  <a:srgbClr val="32281E"/>
                </a:solidFill>
              </a:defRPr>
            </a:pPr>
            <a:r>
              <a:t>02  02 数据清洗 — 如何系统性地拆弹？</a:t>
            </a:r>
          </a:p>
          <a:p>
            <a:pPr algn="l">
              <a:spcAft>
                <a:spcPts val="1400"/>
              </a:spcAft>
              <a:defRPr sz="2000" b="0">
                <a:solidFill>
                  <a:srgbClr val="32281E"/>
                </a:solidFill>
              </a:defRPr>
            </a:pPr>
            <a:r>
              <a:t>03  03 权限架构 — 怎么防止机密二次泄露？</a:t>
            </a:r>
          </a:p>
          <a:p>
            <a:pPr algn="l">
              <a:spcAft>
                <a:spcPts val="1400"/>
              </a:spcAft>
              <a:defRPr sz="2000" b="0">
                <a:solidFill>
                  <a:srgbClr val="32281E"/>
                </a:solidFill>
              </a:defRPr>
            </a:pPr>
            <a:r>
              <a:t>04  04 效果验证 — 清洗真的有效吗？用数据说话</a:t>
            </a:r>
          </a:p>
          <a:p>
            <a:pPr algn="l">
              <a:spcAft>
                <a:spcPts val="1400"/>
              </a:spcAft>
              <a:defRPr sz="2000" b="0">
                <a:solidFill>
                  <a:srgbClr val="32281E"/>
                </a:solidFill>
              </a:defRPr>
            </a:pPr>
            <a:r>
              <a:t>05  05 沉淀总结 — 下次可以直接套用的方法论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43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1825935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8C7864"/>
                </a:solidFill>
              </a:defRPr>
            </a:pPr>
            <a: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11825935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C7864"/>
                </a:solidFill>
              </a:defRPr>
            </a:pPr>
            <a:r>
              <a:t>CUP咖啡 · 知识库搭建实践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3108960"/>
            <a:ext cx="4876495" cy="54864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097280"/>
            <a:ext cx="94484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  <a:defRPr sz="3400" b="1">
                <a:solidFill>
                  <a:srgbClr val="FEFCF8"/>
                </a:solidFill>
              </a:defRPr>
            </a:pPr>
            <a:r>
              <a:t>01 风险诊断</a:t>
            </a:r>
          </a:p>
          <a:p>
            <a:pPr algn="ctr">
              <a:defRPr sz="1700" b="0">
                <a:solidFill>
                  <a:srgbClr val="F5F0EB"/>
                </a:solidFill>
              </a:defRPr>
            </a:pPr>
            <a:r>
              <a:t>5类陷阱 · 看得见的和看不见的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1825935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8C7864"/>
                </a:solidFill>
              </a:defRPr>
            </a:pPr>
            <a: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11825935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C7864"/>
                </a:solidFill>
              </a:defRPr>
            </a:pPr>
            <a:r>
              <a:t>CUP咖啡 · 知识库搭建实践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443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11份原始素材 — 一个典型的真实场景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71600"/>
            <a:ext cx="10545775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32281E"/>
                </a:solidFill>
              </a:defRPr>
            </a:pPr>
            <a:r>
              <a:t>📄  文档类    员工手册(2024版+2026版) · 促销方案(2025+2026) · 客诉SOP(简版+完整版)</a:t>
            </a:r>
          </a:p>
          <a:p>
            <a:pPr>
              <a:spcAft>
                <a:spcPts val="900"/>
              </a:spcAft>
              <a:defRPr sz="1700" b="0">
                <a:solidFill>
                  <a:srgbClr val="32281E"/>
                </a:solidFill>
              </a:defRPr>
            </a:pPr>
          </a:p>
          <a:p>
            <a:pPr>
              <a:spcAft>
                <a:spcPts val="900"/>
              </a:spcAft>
              <a:defRPr sz="1700" b="0">
                <a:solidFill>
                  <a:srgbClr val="32281E"/>
                </a:solidFill>
              </a:defRPr>
            </a:pPr>
            <a:r>
              <a:t>📊  数据类    咖啡豆采购价格表 · 门店排班截图(非结构化) · 运营综合记录(长文本)</a:t>
            </a:r>
          </a:p>
          <a:p>
            <a:pPr>
              <a:spcAft>
                <a:spcPts val="900"/>
              </a:spcAft>
              <a:defRPr sz="1700" b="0">
                <a:solidFill>
                  <a:srgbClr val="32281E"/>
                </a:solidFill>
              </a:defRPr>
            </a:pPr>
          </a:p>
          <a:p>
            <a:pPr>
              <a:spcAft>
                <a:spcPts val="900"/>
              </a:spcAft>
              <a:defRPr sz="1700" b="0">
                <a:solidFill>
                  <a:srgbClr val="32281E"/>
                </a:solidFill>
              </a:defRPr>
            </a:pPr>
            <a:r>
              <a:t>🧪  技术类    饮品配方标准 · 桂花拿铁糖浆用量(测试记录)</a:t>
            </a:r>
          </a:p>
          <a:p>
            <a:pPr>
              <a:spcAft>
                <a:spcPts val="900"/>
              </a:spcAft>
              <a:defRPr sz="1700" b="0">
                <a:solidFill>
                  <a:srgbClr val="32281E"/>
                </a:solidFill>
              </a:defRPr>
            </a:pPr>
          </a:p>
          <a:p>
            <a:pPr>
              <a:spcAft>
                <a:spcPts val="900"/>
              </a:spcAft>
              <a:defRPr sz="1700" b="0">
                <a:solidFill>
                  <a:srgbClr val="32281E"/>
                </a:solidFill>
              </a:defRPr>
            </a:pPr>
          </a:p>
          <a:p>
            <a:pPr>
              <a:spcAft>
                <a:spcPts val="900"/>
              </a:spcAft>
              <a:defRPr sz="1700" b="0">
                <a:solidFill>
                  <a:srgbClr val="32281E"/>
                </a:solidFill>
              </a:defRPr>
            </a:pPr>
            <a:r>
              <a:t>看似完整的素材包，实则暗藏 5 大陷阱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1825935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8C7864"/>
                </a:solidFill>
              </a:defRPr>
            </a:pPr>
            <a: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11825935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C7864"/>
                </a:solidFill>
              </a:defRPr>
            </a:pPr>
            <a:r>
              <a:t>CUP咖啡 · 知识库搭建实践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443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5大风险一览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71600"/>
          <a:ext cx="11277295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5459"/>
                <a:gridCol w="2255459"/>
                <a:gridCol w="2255459"/>
                <a:gridCol w="2255459"/>
                <a:gridCol w="2255459"/>
              </a:tblGrid>
              <a:tr h="80772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风险</a:t>
                      </a:r>
                    </a:p>
                  </a:txBody>
                  <a:tcPr>
                    <a:solidFill>
                      <a:srgbClr val="4430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涉及素材</a:t>
                      </a:r>
                    </a:p>
                  </a:txBody>
                  <a:tcPr>
                    <a:solidFill>
                      <a:srgbClr val="4430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核心问题</a:t>
                      </a:r>
                    </a:p>
                  </a:txBody>
                  <a:tcPr>
                    <a:solidFill>
                      <a:srgbClr val="4430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严重程度</a:t>
                      </a:r>
                    </a:p>
                  </a:txBody>
                  <a:tcPr>
                    <a:solidFill>
                      <a:srgbClr val="4430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影响对象</a:t>
                      </a:r>
                    </a:p>
                  </a:txBody>
                  <a:tcPr>
                    <a:solidFill>
                      <a:srgbClr val="44301E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281E"/>
                          </a:solidFill>
                        </a:defRPr>
                      </a:pPr>
                      <a:r>
                        <a:t>版本冲突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281E"/>
                          </a:solidFill>
                        </a:defRPr>
                      </a:pPr>
                      <a:r>
                        <a:t>01手册 vs 04手册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281E"/>
                          </a:solidFill>
                        </a:defRPr>
                      </a:pPr>
                      <a:r>
                        <a:t>休1天 vs 休2天，自相矛盾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281E"/>
                          </a:solidFill>
                        </a:defRPr>
                      </a:pPr>
                      <a:r>
                        <a:t>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281E"/>
                          </a:solidFill>
                        </a:defRPr>
                      </a:pPr>
                      <a:r>
                        <a:t>员工排班</a:t>
                      </a:r>
                    </a:p>
                  </a:txBody>
                  <a:tcPr/>
                </a:tc>
              </a:tr>
              <a:tr h="8077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281E"/>
                          </a:solidFill>
                        </a:defRPr>
                      </a:pPr>
                      <a:r>
                        <a:t>内容重复</a:t>
                      </a:r>
                    </a:p>
                  </a:txBody>
                  <a:tcPr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281E"/>
                          </a:solidFill>
                        </a:defRPr>
                      </a:pPr>
                      <a:r>
                        <a:t>05客诉 vs 06客诉</a:t>
                      </a:r>
                    </a:p>
                  </a:txBody>
                  <a:tcPr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281E"/>
                          </a:solidFill>
                        </a:defRPr>
                      </a:pPr>
                      <a:r>
                        <a:t>简版3步覆盖完整7步SOP</a:t>
                      </a:r>
                    </a:p>
                  </a:txBody>
                  <a:tcPr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281E"/>
                          </a:solidFill>
                        </a:defRPr>
                      </a:pPr>
                      <a:r>
                        <a:t>中</a:t>
                      </a:r>
                    </a:p>
                  </a:txBody>
                  <a:tcPr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281E"/>
                          </a:solidFill>
                        </a:defRPr>
                      </a:pPr>
                      <a:r>
                        <a:t>服务质量</a:t>
                      </a:r>
                    </a:p>
                  </a:txBody>
                  <a:tcPr>
                    <a:solidFill>
                      <a:srgbClr val="F5F0EB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281E"/>
                          </a:solidFill>
                        </a:defRPr>
                      </a:pPr>
                      <a:r>
                        <a:t>时效混淆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281E"/>
                          </a:solidFill>
                        </a:defRPr>
                      </a:pPr>
                      <a:r>
                        <a:t>03促销 vs 07促销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281E"/>
                          </a:solidFill>
                        </a:defRPr>
                      </a:pPr>
                      <a:r>
                        <a:t>2025过期方案误导顾客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281E"/>
                          </a:solidFill>
                        </a:defRPr>
                      </a:pPr>
                      <a:r>
                        <a:t>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281E"/>
                          </a:solidFill>
                        </a:defRPr>
                      </a:pPr>
                      <a:r>
                        <a:t>顾客体验</a:t>
                      </a:r>
                    </a:p>
                  </a:txBody>
                  <a:tcPr/>
                </a:tc>
              </a:tr>
              <a:tr h="8077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281E"/>
                          </a:solidFill>
                        </a:defRPr>
                      </a:pPr>
                      <a:r>
                        <a:t>机密泄露</a:t>
                      </a:r>
                    </a:p>
                  </a:txBody>
                  <a:tcPr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281E"/>
                          </a:solidFill>
                        </a:defRPr>
                      </a:pPr>
                      <a:r>
                        <a:t>08采购价格</a:t>
                      </a:r>
                    </a:p>
                  </a:txBody>
                  <a:tcPr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281E"/>
                          </a:solidFill>
                        </a:defRPr>
                      </a:pPr>
                      <a:r>
                        <a:t>采购底价直接暴露给顾客</a:t>
                      </a:r>
                    </a:p>
                  </a:txBody>
                  <a:tcPr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281E"/>
                          </a:solidFill>
                        </a:defRPr>
                      </a:pPr>
                      <a:r>
                        <a:t>极危</a:t>
                      </a:r>
                    </a:p>
                  </a:txBody>
                  <a:tcPr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281E"/>
                          </a:solidFill>
                        </a:defRPr>
                      </a:pPr>
                      <a:r>
                        <a:t>经营安全</a:t>
                      </a:r>
                    </a:p>
                  </a:txBody>
                  <a:tcPr>
                    <a:solidFill>
                      <a:srgbClr val="F5F0EB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281E"/>
                          </a:solidFill>
                        </a:defRPr>
                      </a:pPr>
                      <a:r>
                        <a:t>测试误用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281E"/>
                          </a:solidFill>
                        </a:defRPr>
                      </a:pPr>
                      <a:r>
                        <a:t>10糖浆记录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281E"/>
                          </a:solidFill>
                        </a:defRPr>
                      </a:pPr>
                      <a:r>
                        <a:t>测试15ml被当作正式10ml引用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281E"/>
                          </a:solidFill>
                        </a:defRPr>
                      </a:pPr>
                      <a:r>
                        <a:t>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281E"/>
                          </a:solidFill>
                        </a:defRPr>
                      </a:pPr>
                      <a:r>
                        <a:t>出品标准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1825935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8C7864"/>
                </a:solidFill>
              </a:defRPr>
            </a:pPr>
            <a: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11825935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C7864"/>
                </a:solidFill>
              </a:defRPr>
            </a:pPr>
            <a:r>
              <a:t>CUP咖啡 · 知识库搭建实践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443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案例一：同一份手册，自相矛盾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0" y="1188720"/>
            <a:ext cx="27432" cy="5029200"/>
          </a:xfrm>
          <a:prstGeom prst="rect">
            <a:avLst/>
          </a:prstGeom>
          <a:solidFill>
            <a:srgbClr val="F5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280160"/>
            <a:ext cx="484632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32281E"/>
                </a:solidFill>
              </a:defRPr>
            </a:pPr>
            <a:r>
              <a:t>2024版（已废止）</a:t>
            </a:r>
          </a:p>
          <a:p>
            <a:pPr>
              <a:spcAft>
                <a:spcPts val="700"/>
              </a:spcAft>
              <a:defRPr sz="1500" b="0">
                <a:solidFill>
                  <a:srgbClr val="32281E"/>
                </a:solidFill>
              </a:defRPr>
            </a:pPr>
          </a:p>
          <a:p>
            <a:pPr>
              <a:spcAft>
                <a:spcPts val="700"/>
              </a:spcAft>
              <a:defRPr sz="1500" b="0">
                <a:solidFill>
                  <a:srgbClr val="32281E"/>
                </a:solidFill>
              </a:defRPr>
            </a:pPr>
            <a:r>
              <a:t>• 员工每周休息 1 天</a:t>
            </a:r>
          </a:p>
          <a:p>
            <a:pPr>
              <a:spcAft>
                <a:spcPts val="700"/>
              </a:spcAft>
              <a:defRPr sz="1500" b="0">
                <a:solidFill>
                  <a:srgbClr val="32281E"/>
                </a:solidFill>
              </a:defRPr>
            </a:pPr>
            <a:r>
              <a:t>• 20 小时培训即可上岗</a:t>
            </a:r>
          </a:p>
          <a:p>
            <a:pPr>
              <a:spcAft>
                <a:spcPts val="700"/>
              </a:spcAft>
              <a:defRPr sz="1500" b="0">
                <a:solidFill>
                  <a:srgbClr val="32281E"/>
                </a:solidFill>
              </a:defRPr>
            </a:pPr>
            <a:r>
              <a:t>• 主动推荐新品给顾客</a:t>
            </a:r>
          </a:p>
          <a:p>
            <a:pPr>
              <a:spcAft>
                <a:spcPts val="700"/>
              </a:spcAft>
              <a:defRPr sz="1500" b="0">
                <a:solidFill>
                  <a:srgbClr val="32281E"/>
                </a:solidFill>
              </a:defRPr>
            </a:pPr>
            <a:r>
              <a:t>• 10 分钟内完成清理</a:t>
            </a:r>
          </a:p>
          <a:p>
            <a:pPr>
              <a:spcAft>
                <a:spcPts val="700"/>
              </a:spcAft>
              <a:defRPr sz="1500" b="0">
                <a:solidFill>
                  <a:srgbClr val="32281E"/>
                </a:solidFill>
              </a:defRPr>
            </a:pPr>
          </a:p>
          <a:p>
            <a:pPr>
              <a:spcAft>
                <a:spcPts val="700"/>
              </a:spcAft>
              <a:defRPr sz="1500" b="0">
                <a:solidFill>
                  <a:srgbClr val="32281E"/>
                </a:solidFill>
              </a:defRPr>
            </a:pPr>
            <a:r>
              <a:t>❌ 旧版条款已全部作废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280160"/>
            <a:ext cx="484632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32281E"/>
                </a:solidFill>
              </a:defRPr>
            </a:pPr>
            <a:r>
              <a:t>2026版（当前有效）</a:t>
            </a:r>
          </a:p>
          <a:p>
            <a:pPr>
              <a:spcAft>
                <a:spcPts val="700"/>
              </a:spcAft>
              <a:defRPr sz="1500" b="0">
                <a:solidFill>
                  <a:srgbClr val="32281E"/>
                </a:solidFill>
              </a:defRPr>
            </a:pPr>
          </a:p>
          <a:p>
            <a:pPr>
              <a:spcAft>
                <a:spcPts val="700"/>
              </a:spcAft>
              <a:defRPr sz="1500" b="0">
                <a:solidFill>
                  <a:srgbClr val="32281E"/>
                </a:solidFill>
              </a:defRPr>
            </a:pPr>
            <a:r>
              <a:t>• 员工每周休息 2 天</a:t>
            </a:r>
          </a:p>
          <a:p>
            <a:pPr>
              <a:spcAft>
                <a:spcPts val="700"/>
              </a:spcAft>
              <a:defRPr sz="1500" b="0">
                <a:solidFill>
                  <a:srgbClr val="32281E"/>
                </a:solidFill>
              </a:defRPr>
            </a:pPr>
            <a:r>
              <a:t>• 40 小时培训 + 考核通过</a:t>
            </a:r>
          </a:p>
          <a:p>
            <a:pPr>
              <a:spcAft>
                <a:spcPts val="700"/>
              </a:spcAft>
              <a:defRPr sz="1500" b="0">
                <a:solidFill>
                  <a:srgbClr val="32281E"/>
                </a:solidFill>
              </a:defRPr>
            </a:pPr>
            <a:r>
              <a:t>• 热情不打扰，不主动推销</a:t>
            </a:r>
          </a:p>
          <a:p>
            <a:pPr>
              <a:spcAft>
                <a:spcPts val="700"/>
              </a:spcAft>
              <a:defRPr sz="1500" b="0">
                <a:solidFill>
                  <a:srgbClr val="32281E"/>
                </a:solidFill>
              </a:defRPr>
            </a:pPr>
            <a:r>
              <a:t>• 3 分钟清理原则</a:t>
            </a:r>
          </a:p>
          <a:p>
            <a:pPr>
              <a:spcAft>
                <a:spcPts val="700"/>
              </a:spcAft>
              <a:defRPr sz="1500" b="0">
                <a:solidFill>
                  <a:srgbClr val="32281E"/>
                </a:solidFill>
              </a:defRPr>
            </a:pPr>
          </a:p>
          <a:p>
            <a:pPr>
              <a:spcAft>
                <a:spcPts val="700"/>
              </a:spcAft>
              <a:defRPr sz="1500" b="0">
                <a:solidFill>
                  <a:srgbClr val="32281E"/>
                </a:solidFill>
              </a:defRPr>
            </a:pPr>
            <a:r>
              <a:t>✅ 版本号 + 生效日期 = 缺一不可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1825935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8C7864"/>
                </a:solidFill>
              </a:defRPr>
            </a:pPr>
            <a:r>
              <a:t>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11825935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C7864"/>
                </a:solidFill>
              </a:defRPr>
            </a:pPr>
            <a:r>
              <a:t>CUP咖啡 · 知识库搭建实践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443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案例二：不该被回答的问题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71600"/>
            <a:ext cx="10545775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32281E"/>
                </a:solidFill>
              </a:defRPr>
            </a:pPr>
            <a:r>
              <a:t>顾客问：「你们的咖啡豆采购价多少钱？」</a:t>
            </a:r>
          </a:p>
          <a:p>
            <a:pPr>
              <a:spcAft>
                <a:spcPts val="900"/>
              </a:spcAft>
              <a:defRPr sz="1700" b="0">
                <a:solidFill>
                  <a:srgbClr val="32281E"/>
                </a:solidFill>
              </a:defRPr>
            </a:pPr>
          </a:p>
          <a:p>
            <a:pPr>
              <a:spcAft>
                <a:spcPts val="900"/>
              </a:spcAft>
              <a:defRPr sz="1700" b="0">
                <a:solidFill>
                  <a:srgbClr val="32281E"/>
                </a:solidFill>
              </a:defRPr>
            </a:pPr>
            <a:r>
              <a:t>未经清洗的知识库 → AI直接回答 320元/5kg</a:t>
            </a:r>
          </a:p>
          <a:p>
            <a:pPr>
              <a:spcAft>
                <a:spcPts val="900"/>
              </a:spcAft>
              <a:defRPr sz="1700" b="0">
                <a:solidFill>
                  <a:srgbClr val="32281E"/>
                </a:solidFill>
              </a:defRPr>
            </a:pPr>
            <a:r>
              <a:t>❌ 文件本身标注了「不应纳入客服知识库」，但无权限隔离</a:t>
            </a:r>
          </a:p>
          <a:p>
            <a:pPr>
              <a:spcAft>
                <a:spcPts val="900"/>
              </a:spcAft>
              <a:defRPr sz="1700" b="0">
                <a:solidFill>
                  <a:srgbClr val="32281E"/>
                </a:solidFill>
              </a:defRPr>
            </a:pPr>
          </a:p>
          <a:p>
            <a:pPr>
              <a:spcAft>
                <a:spcPts val="900"/>
              </a:spcAft>
              <a:defRPr sz="1700" b="0">
                <a:solidFill>
                  <a:srgbClr val="32281E"/>
                </a:solidFill>
              </a:defRPr>
            </a:pPr>
            <a:r>
              <a:t>已清洗的知识库 → AI引导至零售价 68元/250g</a:t>
            </a:r>
          </a:p>
          <a:p>
            <a:pPr>
              <a:spcAft>
                <a:spcPts val="900"/>
              </a:spcAft>
              <a:defRPr sz="1700" b="0">
                <a:solidFill>
                  <a:srgbClr val="32281E"/>
                </a:solidFill>
              </a:defRPr>
            </a:pPr>
            <a:r>
              <a:t>✅ 采购价格被隔离至机密层，顾客问答场景不可见</a:t>
            </a:r>
          </a:p>
          <a:p>
            <a:pPr>
              <a:spcAft>
                <a:spcPts val="900"/>
              </a:spcAft>
              <a:defRPr sz="1700" b="0">
                <a:solidFill>
                  <a:srgbClr val="32281E"/>
                </a:solidFill>
              </a:defRPr>
            </a:pPr>
          </a:p>
          <a:p>
            <a:pPr>
              <a:spcAft>
                <a:spcPts val="900"/>
              </a:spcAft>
              <a:defRPr sz="1700" b="0">
                <a:solidFill>
                  <a:srgbClr val="32281E"/>
                </a:solidFill>
              </a:defRPr>
            </a:pPr>
            <a:r>
              <a:t>一行标签的缺失 → 一次机密泄露的风险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1825935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8C7864"/>
                </a:solidFill>
              </a:defRPr>
            </a:pPr>
            <a:r>
              <a:t>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11825935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C7864"/>
                </a:solidFill>
              </a:defRPr>
            </a:pPr>
            <a:r>
              <a:t>CUP咖啡 · 知识库搭建实践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443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还有 3 个暗坑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0" y="1188720"/>
            <a:ext cx="27432" cy="5029200"/>
          </a:xfrm>
          <a:prstGeom prst="rect">
            <a:avLst/>
          </a:prstGeom>
          <a:solidFill>
            <a:srgbClr val="F5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280160"/>
            <a:ext cx="512064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32281E"/>
                </a:solidFill>
              </a:defRPr>
            </a:pPr>
            <a:r>
              <a:t>🔄 内容重复</a:t>
            </a:r>
          </a:p>
          <a:p>
            <a:pPr>
              <a:spcAft>
                <a:spcPts val="700"/>
              </a:spcAft>
              <a:defRPr sz="1500" b="0">
                <a:solidFill>
                  <a:srgbClr val="32281E"/>
                </a:solidFill>
              </a:defRPr>
            </a:pPr>
            <a:r>
              <a:t>3步大纲 vs 7步SOP</a:t>
            </a:r>
          </a:p>
          <a:p>
            <a:pPr>
              <a:spcAft>
                <a:spcPts val="700"/>
              </a:spcAft>
              <a:defRPr sz="1500" b="0">
                <a:solidFill>
                  <a:srgbClr val="32281E"/>
                </a:solidFill>
              </a:defRPr>
            </a:pPr>
          </a:p>
          <a:p>
            <a:pPr>
              <a:spcAft>
                <a:spcPts val="700"/>
              </a:spcAft>
              <a:defRPr sz="1500" b="0">
                <a:solidFill>
                  <a:srgbClr val="32281E"/>
                </a:solidFill>
              </a:defRPr>
            </a:pPr>
            <a:r>
              <a:t>素材07 vs 素材03</a:t>
            </a:r>
          </a:p>
          <a:p>
            <a:pPr>
              <a:spcAft>
                <a:spcPts val="700"/>
              </a:spcAft>
              <a:defRPr sz="1500" b="0">
                <a:solidFill>
                  <a:srgbClr val="32281E"/>
                </a:solidFill>
              </a:defRPr>
            </a:pPr>
            <a:r>
              <a:t>旧方案若不被标注 → 顾客被误导</a:t>
            </a:r>
          </a:p>
          <a:p>
            <a:pPr>
              <a:spcAft>
                <a:spcPts val="700"/>
              </a:spcAft>
              <a:defRPr sz="1500" b="0">
                <a:solidFill>
                  <a:srgbClr val="32281E"/>
                </a:solidFill>
              </a:defRPr>
            </a:pPr>
            <a:r>
              <a:t>🧪 测试误用</a:t>
            </a:r>
          </a:p>
          <a:p>
            <a:pPr>
              <a:spcAft>
                <a:spcPts val="700"/>
              </a:spcAft>
              <a:defRPr sz="1500" b="0">
                <a:solidFill>
                  <a:srgbClr val="32281E"/>
                </a:solidFill>
              </a:defRPr>
            </a:pPr>
            <a:r>
              <a:t>15ml测试 vs 10ml正式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1280160"/>
            <a:ext cx="512064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32281E"/>
                </a:solidFill>
              </a:defRPr>
            </a:pPr>
            <a:r>
              <a:t>素材05 vs 素材06</a:t>
            </a:r>
          </a:p>
          <a:p>
            <a:pPr>
              <a:spcAft>
                <a:spcPts val="700"/>
              </a:spcAft>
              <a:defRPr sz="1500" b="0">
                <a:solidFill>
                  <a:srgbClr val="32281E"/>
                </a:solidFill>
              </a:defRPr>
            </a:pPr>
            <a:r>
              <a:t>简略版若不废弃 → AI回答过于单薄</a:t>
            </a:r>
          </a:p>
          <a:p>
            <a:pPr>
              <a:spcAft>
                <a:spcPts val="700"/>
              </a:spcAft>
              <a:defRPr sz="1500" b="0">
                <a:solidFill>
                  <a:srgbClr val="32281E"/>
                </a:solidFill>
              </a:defRPr>
            </a:pPr>
            <a:r>
              <a:t>⏰ 时效混淆</a:t>
            </a:r>
          </a:p>
          <a:p>
            <a:pPr>
              <a:spcAft>
                <a:spcPts val="700"/>
              </a:spcAft>
              <a:defRPr sz="1500" b="0">
                <a:solidFill>
                  <a:srgbClr val="32281E"/>
                </a:solidFill>
              </a:defRPr>
            </a:pPr>
            <a:r>
              <a:t>2025过期 vs 2026当前</a:t>
            </a:r>
          </a:p>
          <a:p>
            <a:pPr>
              <a:spcAft>
                <a:spcPts val="700"/>
              </a:spcAft>
              <a:defRPr sz="1500" b="0">
                <a:solidFill>
                  <a:srgbClr val="32281E"/>
                </a:solidFill>
              </a:defRPr>
            </a:pPr>
          </a:p>
          <a:p>
            <a:pPr>
              <a:spcAft>
                <a:spcPts val="700"/>
              </a:spcAft>
              <a:defRPr sz="1500" b="0">
                <a:solidFill>
                  <a:srgbClr val="32281E"/>
                </a:solidFill>
              </a:defRPr>
            </a:pPr>
            <a:r>
              <a:t>素材10 vs 素材02</a:t>
            </a:r>
          </a:p>
          <a:p>
            <a:pPr>
              <a:spcAft>
                <a:spcPts val="700"/>
              </a:spcAft>
              <a:defRPr sz="1500" b="0">
                <a:solidFill>
                  <a:srgbClr val="32281E"/>
                </a:solidFill>
              </a:defRPr>
            </a:pPr>
            <a:r>
              <a:t>测试数据无标签 → 出品口味偏离标准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43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1825935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8C7864"/>
                </a:solidFill>
              </a:defRPr>
            </a:pPr>
            <a:r>
              <a:t>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11825935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C7864"/>
                </a:solidFill>
              </a:defRPr>
            </a:pPr>
            <a:r>
              <a:t>CUP咖啡 · 知识库搭建实践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3108960"/>
            <a:ext cx="4876495" cy="54864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097280"/>
            <a:ext cx="94484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  <a:defRPr sz="3400" b="1">
                <a:solidFill>
                  <a:srgbClr val="FEFCF8"/>
                </a:solidFill>
              </a:defRPr>
            </a:pPr>
            <a:r>
              <a:t>02 数据清洗</a:t>
            </a:r>
          </a:p>
          <a:p>
            <a:pPr algn="ctr">
              <a:defRPr sz="1700" b="0">
                <a:solidFill>
                  <a:srgbClr val="F5F0EB"/>
                </a:solidFill>
              </a:defRPr>
            </a:pPr>
            <a:r>
              <a:t>不是简单删文件，而是一套方法论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1825935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8C7864"/>
                </a:solidFill>
              </a:defRPr>
            </a:pPr>
            <a: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11825935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C7864"/>
                </a:solidFill>
              </a:defRPr>
            </a:pPr>
            <a:r>
              <a:t>CUP咖啡 · 知识库搭建实践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443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清洗流程：3 阶段 · 7 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474720"/>
            <a:ext cx="10728655" cy="54864"/>
          </a:xfrm>
          <a:prstGeom prst="rect">
            <a:avLst/>
          </a:prstGeom>
          <a:solidFill>
            <a:srgbClr val="8B6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275789" y="3291839"/>
            <a:ext cx="365760" cy="365760"/>
          </a:xfrm>
          <a:prstGeom prst="ellipse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44269" y="2286000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200"/>
              </a:spcAft>
              <a:defRPr sz="1300" b="1">
                <a:solidFill>
                  <a:srgbClr val="44301E"/>
                </a:solidFill>
              </a:defRPr>
            </a:pPr>
            <a:r>
              <a:t>📋 诊断阶段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44269" y="4114800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8C7864"/>
                </a:solidFill>
              </a:defRPr>
            </a:pPr>
            <a:r>
              <a:t>Step 1 素材盘点 → Step 2 数据清洗（废弃·标注·隔离·标记）</a:t>
            </a:r>
          </a:p>
        </p:txBody>
      </p:sp>
      <p:sp>
        <p:nvSpPr>
          <p:cNvPr id="11" name="Oval 10"/>
          <p:cNvSpPr/>
          <p:nvPr/>
        </p:nvSpPr>
        <p:spPr>
          <a:xfrm>
            <a:off x="5730087" y="3291839"/>
            <a:ext cx="365760" cy="365760"/>
          </a:xfrm>
          <a:prstGeom prst="ellipse">
            <a:avLst/>
          </a:prstGeom>
          <a:solidFill>
            <a:srgbClr val="8B6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98567" y="2286000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200"/>
              </a:spcAft>
              <a:defRPr sz="1300" b="1">
                <a:solidFill>
                  <a:srgbClr val="44301E"/>
                </a:solidFill>
              </a:defRPr>
            </a:pPr>
            <a:r>
              <a:t>🏗️ 治理阶段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98567" y="4114800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8C7864"/>
                </a:solidFill>
              </a:defRPr>
            </a:pPr>
            <a:r>
              <a:t>Step 3 权限分级 → Step 4 结构化处理 → Step 5 知识分类</a:t>
            </a:r>
          </a:p>
        </p:txBody>
      </p:sp>
      <p:sp>
        <p:nvSpPr>
          <p:cNvPr id="14" name="Oval 13"/>
          <p:cNvSpPr/>
          <p:nvPr/>
        </p:nvSpPr>
        <p:spPr>
          <a:xfrm>
            <a:off x="9184386" y="3291839"/>
            <a:ext cx="365760" cy="365760"/>
          </a:xfrm>
          <a:prstGeom prst="ellipse">
            <a:avLst/>
          </a:prstGeom>
          <a:solidFill>
            <a:srgbClr val="8B6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52866" y="2286000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200"/>
              </a:spcAft>
              <a:defRPr sz="1300" b="1">
                <a:solidFill>
                  <a:srgbClr val="44301E"/>
                </a:solidFill>
              </a:defRPr>
            </a:pPr>
            <a:r>
              <a:t>✅ 验收阶段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2866" y="4114800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8C7864"/>
                </a:solidFill>
              </a:defRPr>
            </a:pPr>
            <a:r>
              <a:t>Step 6 质量校验 → Step 7 入库上线（每条加元数据）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1825935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8C7864"/>
                </a:solidFill>
              </a:defRPr>
            </a:pPr>
            <a: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11825935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C7864"/>
                </a:solidFill>
              </a:defRPr>
            </a:pPr>
            <a:r>
              <a:t>CUP咖啡 · 知识库搭建实践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443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素材处理决策清单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71600"/>
          <a:ext cx="11277295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4038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素材</a:t>
                      </a:r>
                    </a:p>
                  </a:txBody>
                  <a:tcPr>
                    <a:solidFill>
                      <a:srgbClr val="4430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决策</a:t>
                      </a:r>
                    </a:p>
                  </a:txBody>
                  <a:tcPr>
                    <a:solidFill>
                      <a:srgbClr val="4430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目标层级</a:t>
                      </a:r>
                    </a:p>
                  </a:txBody>
                  <a:tcPr>
                    <a:solidFill>
                      <a:srgbClr val="44301E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281E"/>
                          </a:solidFill>
                        </a:defRPr>
                      </a:pPr>
                      <a:r>
                        <a:t>员工手册2026版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281E"/>
                          </a:solidFill>
                        </a:defRPr>
                      </a:pPr>
                      <a:r>
                        <a:t>入库 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281E"/>
                          </a:solidFill>
                        </a:defRPr>
                      </a:pPr>
                      <a:r>
                        <a:t>公开层</a:t>
                      </a:r>
                    </a:p>
                  </a:txBody>
                  <a:tcPr/>
                </a:tc>
              </a:tr>
              <a:tr h="4038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281E"/>
                          </a:solidFill>
                        </a:defRPr>
                      </a:pPr>
                      <a:r>
                        <a:t>员工手册2024旧版</a:t>
                      </a:r>
                    </a:p>
                  </a:txBody>
                  <a:tcPr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281E"/>
                          </a:solidFill>
                        </a:defRPr>
                      </a:pPr>
                      <a:r>
                        <a:t>废弃 ❌</a:t>
                      </a:r>
                    </a:p>
                  </a:txBody>
                  <a:tcPr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281E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5F0EB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281E"/>
                          </a:solidFill>
                        </a:defRPr>
                      </a:pPr>
                      <a:r>
                        <a:t>饮品配方标准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281E"/>
                          </a:solidFill>
                        </a:defRPr>
                      </a:pPr>
                      <a:r>
                        <a:t>入库 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281E"/>
                          </a:solidFill>
                        </a:defRPr>
                      </a:pPr>
                      <a:r>
                        <a:t>公开层</a:t>
                      </a:r>
                    </a:p>
                  </a:txBody>
                  <a:tcPr/>
                </a:tc>
              </a:tr>
              <a:tr h="4038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281E"/>
                          </a:solidFill>
                        </a:defRPr>
                      </a:pPr>
                      <a:r>
                        <a:t>客诉SOP完整版</a:t>
                      </a:r>
                    </a:p>
                  </a:txBody>
                  <a:tcPr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281E"/>
                          </a:solidFill>
                        </a:defRPr>
                      </a:pPr>
                      <a:r>
                        <a:t>入库 ✅</a:t>
                      </a:r>
                    </a:p>
                  </a:txBody>
                  <a:tcPr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281E"/>
                          </a:solidFill>
                        </a:defRPr>
                      </a:pPr>
                      <a:r>
                        <a:t>公开层</a:t>
                      </a:r>
                    </a:p>
                  </a:txBody>
                  <a:tcPr>
                    <a:solidFill>
                      <a:srgbClr val="F5F0EB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281E"/>
                          </a:solidFill>
                        </a:defRPr>
                      </a:pPr>
                      <a:r>
                        <a:t>客诉处理简略版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281E"/>
                          </a:solidFill>
                        </a:defRPr>
                      </a:pPr>
                      <a:r>
                        <a:t>废弃 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281E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</a:tr>
              <a:tr h="4038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281E"/>
                          </a:solidFill>
                        </a:defRPr>
                      </a:pPr>
                      <a:r>
                        <a:t>2026年7月促销方案</a:t>
                      </a:r>
                    </a:p>
                  </a:txBody>
                  <a:tcPr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281E"/>
                          </a:solidFill>
                        </a:defRPr>
                      </a:pPr>
                      <a:r>
                        <a:t>入库 ✅</a:t>
                      </a:r>
                    </a:p>
                  </a:txBody>
                  <a:tcPr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281E"/>
                          </a:solidFill>
                        </a:defRPr>
                      </a:pPr>
                      <a:r>
                        <a:t>公开层</a:t>
                      </a:r>
                    </a:p>
                  </a:txBody>
                  <a:tcPr>
                    <a:solidFill>
                      <a:srgbClr val="F5F0EB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281E"/>
                          </a:solidFill>
                        </a:defRPr>
                      </a:pPr>
                      <a:r>
                        <a:t>2025年促销记录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281E"/>
                          </a:solidFill>
                        </a:defRPr>
                      </a:pPr>
                      <a:r>
                        <a:t>入库（加过期标签）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281E"/>
                          </a:solidFill>
                        </a:defRPr>
                      </a:pPr>
                      <a:r>
                        <a:t>内部层</a:t>
                      </a:r>
                    </a:p>
                  </a:txBody>
                  <a:tcPr/>
                </a:tc>
              </a:tr>
              <a:tr h="4038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281E"/>
                          </a:solidFill>
                        </a:defRPr>
                      </a:pPr>
                      <a:r>
                        <a:t>咖啡豆采购价格表</a:t>
                      </a:r>
                    </a:p>
                  </a:txBody>
                  <a:tcPr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281E"/>
                          </a:solidFill>
                        </a:defRPr>
                      </a:pPr>
                      <a:r>
                        <a:t>入库（权限隔离）</a:t>
                      </a:r>
                    </a:p>
                  </a:txBody>
                  <a:tcPr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281E"/>
                          </a:solidFill>
                        </a:defRPr>
                      </a:pPr>
                      <a:r>
                        <a:t>机密层</a:t>
                      </a:r>
                    </a:p>
                  </a:txBody>
                  <a:tcPr>
                    <a:solidFill>
                      <a:srgbClr val="F5F0EB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281E"/>
                          </a:solidFill>
                        </a:defRPr>
                      </a:pPr>
                      <a:r>
                        <a:t>门店排班表截图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281E"/>
                          </a:solidFill>
                        </a:defRPr>
                      </a:pPr>
                      <a:r>
                        <a:t>OCR转文本后入库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281E"/>
                          </a:solidFill>
                        </a:defRPr>
                      </a:pPr>
                      <a:r>
                        <a:t>内部层</a:t>
                      </a:r>
                    </a:p>
                  </a:txBody>
                  <a:tcPr/>
                </a:tc>
              </a:tr>
              <a:tr h="4038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281E"/>
                          </a:solidFill>
                        </a:defRPr>
                      </a:pPr>
                      <a:r>
                        <a:t>桂花糖浆测试记录</a:t>
                      </a:r>
                    </a:p>
                  </a:txBody>
                  <a:tcPr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281E"/>
                          </a:solidFill>
                        </a:defRPr>
                      </a:pPr>
                      <a:r>
                        <a:t>入库（加测试标签）</a:t>
                      </a:r>
                    </a:p>
                  </a:txBody>
                  <a:tcPr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281E"/>
                          </a:solidFill>
                        </a:defRPr>
                      </a:pPr>
                      <a:r>
                        <a:t>内部层</a:t>
                      </a:r>
                    </a:p>
                  </a:txBody>
                  <a:tcPr>
                    <a:solidFill>
                      <a:srgbClr val="F5F0EB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281E"/>
                          </a:solidFill>
                        </a:defRPr>
                      </a:pPr>
                      <a:r>
                        <a:t>运营综合记录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281E"/>
                          </a:solidFill>
                        </a:defRPr>
                      </a:pPr>
                      <a:r>
                        <a:t>拆分6条入库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281E"/>
                          </a:solidFill>
                        </a:defRPr>
                      </a:pPr>
                      <a:r>
                        <a:t>分属各层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43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1825935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8C7864"/>
                </a:solidFill>
              </a:defRPr>
            </a:pPr>
            <a: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11825935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C7864"/>
                </a:solidFill>
              </a:defRPr>
            </a:pPr>
            <a:r>
              <a:t>CUP咖啡 · 知识库搭建实践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3108960"/>
            <a:ext cx="4876495" cy="54864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097280"/>
            <a:ext cx="94484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  <a:defRPr sz="3400" b="1">
                <a:solidFill>
                  <a:srgbClr val="FEFCF8"/>
                </a:solidFill>
              </a:defRPr>
            </a:pPr>
            <a:r>
              <a:t>03 权限架构</a:t>
            </a:r>
          </a:p>
          <a:p>
            <a:pPr algn="ctr">
              <a:defRPr sz="1700" b="0">
                <a:solidFill>
                  <a:srgbClr val="F5F0EB"/>
                </a:solidFill>
              </a:defRPr>
            </a:pPr>
            <a:r>
              <a:t>三层隔离 · 让数据去该去的地方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1825935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8C7864"/>
                </a:solidFill>
              </a:defRPr>
            </a:pPr>
            <a:r>
              <a:t>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11825935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C7864"/>
                </a:solidFill>
              </a:defRPr>
            </a:pPr>
            <a:r>
              <a:t>CUP咖啡 · 知识库搭建实践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443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三级保密体系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0" y="1188720"/>
            <a:ext cx="27432" cy="5029200"/>
          </a:xfrm>
          <a:prstGeom prst="rect">
            <a:avLst/>
          </a:prstGeom>
          <a:solidFill>
            <a:srgbClr val="F5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280160"/>
            <a:ext cx="512064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32281E"/>
                </a:solidFill>
              </a:defRPr>
            </a:pPr>
            <a:r>
              <a:t>🟢 公开层  ·  6 条</a:t>
            </a:r>
          </a:p>
          <a:p>
            <a:pPr>
              <a:spcAft>
                <a:spcPts val="700"/>
              </a:spcAft>
              <a:defRPr sz="1500" b="0">
                <a:solidFill>
                  <a:srgbClr val="32281E"/>
                </a:solidFill>
              </a:defRPr>
            </a:pPr>
            <a:r>
              <a:t>员工手册 · 饮品配方</a:t>
            </a:r>
          </a:p>
          <a:p>
            <a:pPr>
              <a:spcAft>
                <a:spcPts val="700"/>
              </a:spcAft>
              <a:defRPr sz="1500" b="0">
                <a:solidFill>
                  <a:srgbClr val="32281E"/>
                </a:solidFill>
              </a:defRPr>
            </a:pPr>
            <a:r>
              <a:t>门店FAQ · 顾客好评</a:t>
            </a:r>
          </a:p>
          <a:p>
            <a:pPr>
              <a:spcAft>
                <a:spcPts val="700"/>
              </a:spcAft>
              <a:defRPr sz="1500" b="0">
                <a:solidFill>
                  <a:srgbClr val="32281E"/>
                </a:solidFill>
              </a:defRPr>
            </a:pPr>
            <a:r>
              <a:t>🟡 内部层  ·  7 条</a:t>
            </a:r>
          </a:p>
          <a:p>
            <a:pPr>
              <a:spcAft>
                <a:spcPts val="700"/>
              </a:spcAft>
              <a:defRPr sz="1500" b="0">
                <a:solidFill>
                  <a:srgbClr val="32281E"/>
                </a:solidFill>
              </a:defRPr>
            </a:pPr>
            <a:r>
              <a:t>门店信息 · 排班制度</a:t>
            </a:r>
          </a:p>
          <a:p>
            <a:pPr>
              <a:spcAft>
                <a:spcPts val="700"/>
              </a:spcAft>
              <a:defRPr sz="1500" b="0">
                <a:solidFill>
                  <a:srgbClr val="32281E"/>
                </a:solidFill>
              </a:defRPr>
            </a:pPr>
            <a:r>
              <a:t>培训记录 · 运营数据 · 巡检清单</a:t>
            </a:r>
          </a:p>
          <a:p>
            <a:pPr>
              <a:spcAft>
                <a:spcPts val="700"/>
              </a:spcAft>
              <a:defRPr sz="1500" b="0">
                <a:solidFill>
                  <a:srgbClr val="32281E"/>
                </a:solidFill>
              </a:defRPr>
            </a:pPr>
            <a:r>
              <a:t>🔴 机密层  ·  2 条</a:t>
            </a:r>
          </a:p>
          <a:p>
            <a:pPr>
              <a:spcAft>
                <a:spcPts val="700"/>
              </a:spcAft>
              <a:defRPr sz="1500" b="0">
                <a:solidFill>
                  <a:srgbClr val="32281E"/>
                </a:solidFill>
              </a:defRPr>
            </a:pPr>
            <a:r>
              <a:t>咖啡豆采购价格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1280160"/>
            <a:ext cx="512064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32281E"/>
                </a:solidFill>
              </a:defRPr>
            </a:pPr>
            <a:r>
              <a:t>AI 可直接回答</a:t>
            </a:r>
          </a:p>
          <a:p>
            <a:pPr>
              <a:spcAft>
                <a:spcPts val="700"/>
              </a:spcAft>
              <a:defRPr sz="1500" b="0">
                <a:solidFill>
                  <a:srgbClr val="32281E"/>
                </a:solidFill>
              </a:defRPr>
            </a:pPr>
            <a:r>
              <a:t>促销方案 · 客诉SOP</a:t>
            </a:r>
          </a:p>
          <a:p>
            <a:pPr>
              <a:spcAft>
                <a:spcPts val="700"/>
              </a:spcAft>
              <a:defRPr sz="1500" b="0">
                <a:solidFill>
                  <a:srgbClr val="32281E"/>
                </a:solidFill>
              </a:defRPr>
            </a:pPr>
          </a:p>
          <a:p>
            <a:pPr>
              <a:spcAft>
                <a:spcPts val="700"/>
              </a:spcAft>
              <a:defRPr sz="1500" b="0">
                <a:solidFill>
                  <a:srgbClr val="32281E"/>
                </a:solidFill>
              </a:defRPr>
            </a:pPr>
            <a:r>
              <a:t>仅员工 / 管理层访问</a:t>
            </a:r>
          </a:p>
          <a:p>
            <a:pPr>
              <a:spcAft>
                <a:spcPts val="700"/>
              </a:spcAft>
              <a:defRPr sz="1500" b="0">
                <a:solidFill>
                  <a:srgbClr val="32281E"/>
                </a:solidFill>
              </a:defRPr>
            </a:pPr>
            <a:r>
              <a:t>客诉月报 · 新品测试</a:t>
            </a:r>
          </a:p>
          <a:p>
            <a:pPr>
              <a:spcAft>
                <a:spcPts val="700"/>
              </a:spcAft>
              <a:defRPr sz="1500" b="0">
                <a:solidFill>
                  <a:srgbClr val="32281E"/>
                </a:solidFill>
              </a:defRPr>
            </a:pPr>
          </a:p>
          <a:p>
            <a:pPr>
              <a:spcAft>
                <a:spcPts val="700"/>
              </a:spcAft>
              <a:defRPr sz="1500" b="0">
                <a:solidFill>
                  <a:srgbClr val="32281E"/>
                </a:solidFill>
              </a:defRPr>
            </a:pPr>
            <a:r>
              <a:t>仅店长 + 财务访问</a:t>
            </a:r>
          </a:p>
          <a:p>
            <a:pPr>
              <a:spcAft>
                <a:spcPts val="700"/>
              </a:spcAft>
              <a:defRPr sz="1500" b="0">
                <a:solidFill>
                  <a:srgbClr val="32281E"/>
                </a:solidFill>
              </a:defRPr>
            </a:pPr>
            <a:r>
              <a:t>供应商联系方式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43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1825935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8C7864"/>
                </a:solidFill>
              </a:defRPr>
            </a:pPr>
            <a:r>
              <a:t>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11825935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C7864"/>
                </a:solidFill>
              </a:defRPr>
            </a:pPr>
            <a:r>
              <a:t>CUP咖啡 · 知识库搭建实践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3108960"/>
            <a:ext cx="4876495" cy="54864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097280"/>
            <a:ext cx="94484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  <a:defRPr sz="3400" b="1">
                <a:solidFill>
                  <a:srgbClr val="FEFCF8"/>
                </a:solidFill>
              </a:defRPr>
            </a:pPr>
            <a:r>
              <a:t>04 效果验证</a:t>
            </a:r>
          </a:p>
          <a:p>
            <a:pPr algn="ctr">
              <a:defRPr sz="1700" b="0">
                <a:solidFill>
                  <a:srgbClr val="F5F0EB"/>
                </a:solidFill>
              </a:defRPr>
            </a:pPr>
            <a:r>
              <a:t>清洗到底有没有用？让数据说话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1825935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8C7864"/>
                </a:solidFill>
              </a:defRPr>
            </a:pPr>
            <a:r>
              <a:t>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11825935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C7864"/>
                </a:solidFill>
              </a:defRPr>
            </a:pPr>
            <a:r>
              <a:t>CUP咖啡 · 知识库搭建实践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443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5 个关键问题 · 清洗前后对比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71600"/>
          <a:ext cx="11277295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80772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测试问题</a:t>
                      </a:r>
                    </a:p>
                  </a:txBody>
                  <a:tcPr>
                    <a:solidFill>
                      <a:srgbClr val="4430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风险类型</a:t>
                      </a:r>
                    </a:p>
                  </a:txBody>
                  <a:tcPr>
                    <a:solidFill>
                      <a:srgbClr val="4430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清洗前回答</a:t>
                      </a:r>
                    </a:p>
                  </a:txBody>
                  <a:tcPr>
                    <a:solidFill>
                      <a:srgbClr val="4430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清洗后回答</a:t>
                      </a:r>
                    </a:p>
                  </a:txBody>
                  <a:tcPr>
                    <a:solidFill>
                      <a:srgbClr val="44301E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281E"/>
                          </a:solidFill>
                        </a:defRPr>
                      </a:pPr>
                      <a:r>
                        <a:t>员工每周休息几天？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281E"/>
                          </a:solidFill>
                        </a:defRPr>
                      </a:pPr>
                      <a:r>
                        <a:t>版本冲突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281E"/>
                          </a:solidFill>
                        </a:defRPr>
                      </a:pPr>
                      <a:r>
                        <a:t>1天 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281E"/>
                          </a:solidFill>
                        </a:defRPr>
                      </a:pPr>
                      <a:r>
                        <a:t>2天 ✅</a:t>
                      </a:r>
                    </a:p>
                  </a:txBody>
                  <a:tcPr/>
                </a:tc>
              </a:tr>
              <a:tr h="8077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281E"/>
                          </a:solidFill>
                        </a:defRPr>
                      </a:pPr>
                      <a:r>
                        <a:t>桂花拿铁糖浆用多少？</a:t>
                      </a:r>
                    </a:p>
                  </a:txBody>
                  <a:tcPr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281E"/>
                          </a:solidFill>
                        </a:defRPr>
                      </a:pPr>
                      <a:r>
                        <a:t>测试误用</a:t>
                      </a:r>
                    </a:p>
                  </a:txBody>
                  <a:tcPr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281E"/>
                          </a:solidFill>
                        </a:defRPr>
                      </a:pPr>
                      <a:r>
                        <a:t>15ml ❌</a:t>
                      </a:r>
                    </a:p>
                  </a:txBody>
                  <a:tcPr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281E"/>
                          </a:solidFill>
                        </a:defRPr>
                      </a:pPr>
                      <a:r>
                        <a:t>10ml ✅</a:t>
                      </a:r>
                    </a:p>
                  </a:txBody>
                  <a:tcPr>
                    <a:solidFill>
                      <a:srgbClr val="F5F0EB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281E"/>
                          </a:solidFill>
                        </a:defRPr>
                      </a:pPr>
                      <a:r>
                        <a:t>咖啡豆采购价是多少？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281E"/>
                          </a:solidFill>
                        </a:defRPr>
                      </a:pPr>
                      <a:r>
                        <a:t>机密泄露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281E"/>
                          </a:solidFill>
                        </a:defRPr>
                      </a:pPr>
                      <a:r>
                        <a:t>直接报价 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281E"/>
                          </a:solidFill>
                        </a:defRPr>
                      </a:pPr>
                      <a:r>
                        <a:t>引导零售价 ✅</a:t>
                      </a:r>
                    </a:p>
                  </a:txBody>
                  <a:tcPr/>
                </a:tc>
              </a:tr>
              <a:tr h="8077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281E"/>
                          </a:solidFill>
                        </a:defRPr>
                      </a:pPr>
                      <a:r>
                        <a:t>现在有什么促销活动？</a:t>
                      </a:r>
                    </a:p>
                  </a:txBody>
                  <a:tcPr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281E"/>
                          </a:solidFill>
                        </a:defRPr>
                      </a:pPr>
                      <a:r>
                        <a:t>时效混淆</a:t>
                      </a:r>
                    </a:p>
                  </a:txBody>
                  <a:tcPr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281E"/>
                          </a:solidFill>
                        </a:defRPr>
                      </a:pPr>
                      <a:r>
                        <a:t>周五双倍积分 ❌</a:t>
                      </a:r>
                    </a:p>
                  </a:txBody>
                  <a:tcPr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281E"/>
                          </a:solidFill>
                        </a:defRPr>
                      </a:pPr>
                      <a:r>
                        <a:t>周二四买一送一 ✅</a:t>
                      </a:r>
                    </a:p>
                  </a:txBody>
                  <a:tcPr>
                    <a:solidFill>
                      <a:srgbClr val="F5F0EB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281E"/>
                          </a:solidFill>
                        </a:defRPr>
                      </a:pPr>
                      <a:r>
                        <a:t>顾客投诉怎么处理？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281E"/>
                          </a:solidFill>
                        </a:defRPr>
                      </a:pPr>
                      <a:r>
                        <a:t>内容重复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281E"/>
                          </a:solidFill>
                        </a:defRPr>
                      </a:pPr>
                      <a:r>
                        <a:t>道歉→解决→记录 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281E"/>
                          </a:solidFill>
                        </a:defRPr>
                      </a:pPr>
                      <a:r>
                        <a:t>完整7步SOP ✅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1825935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8C7864"/>
                </a:solidFill>
              </a:defRPr>
            </a:pPr>
            <a:r>
              <a:t>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11825935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C7864"/>
                </a:solidFill>
              </a:defRPr>
            </a:pPr>
            <a:r>
              <a:t>CUP咖啡 · 知识库搭建实践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443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回答准确率对比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" y="1371600"/>
          <a:ext cx="10728655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1825935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8C7864"/>
                </a:solidFill>
              </a:defRPr>
            </a:pPr>
            <a:r>
              <a:t>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11825935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C7864"/>
                </a:solidFill>
              </a:defRPr>
            </a:pPr>
            <a:r>
              <a:t>CUP咖啡 · 知识库搭建实践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443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清洗的四大价值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0" y="1188720"/>
            <a:ext cx="27432" cy="5029200"/>
          </a:xfrm>
          <a:prstGeom prst="rect">
            <a:avLst/>
          </a:prstGeom>
          <a:solidFill>
            <a:srgbClr val="F5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280160"/>
            <a:ext cx="512064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32281E"/>
                </a:solidFill>
              </a:defRPr>
            </a:pPr>
            <a:r>
              <a:t>✅ 准确</a:t>
            </a:r>
          </a:p>
          <a:p>
            <a:pPr>
              <a:spcAft>
                <a:spcPts val="700"/>
              </a:spcAft>
              <a:defRPr sz="1500" b="0">
                <a:solidFill>
                  <a:srgbClr val="32281E"/>
                </a:solidFill>
              </a:defRPr>
            </a:pPr>
            <a:r>
              <a:t>旧版手册明确废弃，不再引用</a:t>
            </a:r>
          </a:p>
          <a:p>
            <a:pPr>
              <a:spcAft>
                <a:spcPts val="700"/>
              </a:spcAft>
              <a:defRPr sz="1500" b="0">
                <a:solidFill>
                  <a:srgbClr val="32281E"/>
                </a:solidFill>
              </a:defRPr>
            </a:pPr>
            <a:r>
              <a:t>🔒 安全</a:t>
            </a:r>
          </a:p>
          <a:p>
            <a:pPr>
              <a:spcAft>
                <a:spcPts val="700"/>
              </a:spcAft>
              <a:defRPr sz="1500" b="0">
                <a:solidFill>
                  <a:srgbClr val="32281E"/>
                </a:solidFill>
              </a:defRPr>
            </a:pPr>
            <a:r>
              <a:t>采购价被权限过滤，无法触及顾客</a:t>
            </a:r>
          </a:p>
          <a:p>
            <a:pPr>
              <a:spcAft>
                <a:spcPts val="700"/>
              </a:spcAft>
              <a:defRPr sz="1500" b="0">
                <a:solidFill>
                  <a:srgbClr val="32281E"/>
                </a:solidFill>
              </a:defRPr>
            </a:pPr>
            <a:r>
              <a:t>⏰ 时效</a:t>
            </a:r>
          </a:p>
          <a:p>
            <a:pPr>
              <a:spcAft>
                <a:spcPts val="700"/>
              </a:spcAft>
              <a:defRPr sz="1500" b="0">
                <a:solidFill>
                  <a:srgbClr val="32281E"/>
                </a:solidFill>
              </a:defRPr>
            </a:pPr>
            <a:r>
              <a:t>过期内容被标注，不再误导回答</a:t>
            </a:r>
          </a:p>
          <a:p>
            <a:pPr>
              <a:spcAft>
                <a:spcPts val="700"/>
              </a:spcAft>
              <a:defRPr sz="1500" b="0">
                <a:solidFill>
                  <a:srgbClr val="32281E"/>
                </a:solidFill>
              </a:defRPr>
            </a:pPr>
            <a:r>
              <a:t>🗑️ 一致</a:t>
            </a:r>
          </a:p>
          <a:p>
            <a:pPr>
              <a:spcAft>
                <a:spcPts val="700"/>
              </a:spcAft>
              <a:defRPr sz="1500" b="0">
                <a:solidFill>
                  <a:srgbClr val="32281E"/>
                </a:solidFill>
              </a:defRPr>
            </a:pPr>
            <a:r>
              <a:t>AI 引用完整SOP，而非简略大纲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1280160"/>
            <a:ext cx="512064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32281E"/>
                </a:solidFill>
              </a:defRPr>
            </a:pPr>
            <a:r>
              <a:t>版本冲突解决，AI 回答统一</a:t>
            </a:r>
          </a:p>
          <a:p>
            <a:pPr>
              <a:spcAft>
                <a:spcPts val="700"/>
              </a:spcAft>
              <a:defRPr sz="1500" b="0">
                <a:solidFill>
                  <a:srgbClr val="32281E"/>
                </a:solidFill>
              </a:defRPr>
            </a:pPr>
          </a:p>
          <a:p>
            <a:pPr>
              <a:spcAft>
                <a:spcPts val="700"/>
              </a:spcAft>
              <a:defRPr sz="1500" b="0">
                <a:solidFill>
                  <a:srgbClr val="32281E"/>
                </a:solidFill>
              </a:defRPr>
            </a:pPr>
            <a:r>
              <a:t>机密信息零泄露</a:t>
            </a:r>
          </a:p>
          <a:p>
            <a:pPr>
              <a:spcAft>
                <a:spcPts val="700"/>
              </a:spcAft>
              <a:defRPr sz="1500" b="0">
                <a:solidFill>
                  <a:srgbClr val="32281E"/>
                </a:solidFill>
              </a:defRPr>
            </a:pPr>
          </a:p>
          <a:p>
            <a:pPr>
              <a:spcAft>
                <a:spcPts val="700"/>
              </a:spcAft>
              <a:defRPr sz="1500" b="0">
                <a:solidFill>
                  <a:srgbClr val="32281E"/>
                </a:solidFill>
              </a:defRPr>
            </a:pPr>
            <a:r>
              <a:t>AI 仅引用当前有效方案</a:t>
            </a:r>
          </a:p>
          <a:p>
            <a:pPr>
              <a:spcAft>
                <a:spcPts val="700"/>
              </a:spcAft>
              <a:defRPr sz="1500" b="0">
                <a:solidFill>
                  <a:srgbClr val="32281E"/>
                </a:solidFill>
              </a:defRPr>
            </a:pPr>
          </a:p>
          <a:p>
            <a:pPr>
              <a:spcAft>
                <a:spcPts val="700"/>
              </a:spcAft>
              <a:defRPr sz="1500" b="0">
                <a:solidFill>
                  <a:srgbClr val="32281E"/>
                </a:solidFill>
              </a:defRPr>
            </a:pPr>
            <a:r>
              <a:t>重复内容被消除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43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1825935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8C7864"/>
                </a:solidFill>
              </a:defRPr>
            </a:pPr>
            <a:r>
              <a:t>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11825935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C7864"/>
                </a:solidFill>
              </a:defRPr>
            </a:pPr>
            <a:r>
              <a:t>CUP咖啡 · 知识库搭建实践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3108960"/>
            <a:ext cx="4876495" cy="54864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097280"/>
            <a:ext cx="94484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  <a:defRPr sz="3400" b="1">
                <a:solidFill>
                  <a:srgbClr val="FEFCF8"/>
                </a:solidFill>
              </a:defRPr>
            </a:pPr>
            <a:r>
              <a:t>05 沉淀总结</a:t>
            </a:r>
          </a:p>
          <a:p>
            <a:pPr algn="ctr">
              <a:defRPr sz="1700" b="0">
                <a:solidFill>
                  <a:srgbClr val="F5F0EB"/>
                </a:solidFill>
              </a:defRPr>
            </a:pPr>
            <a:r>
              <a:t>从 CUP 咖啡出发，带走可复用方法论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1825935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8C7864"/>
                </a:solidFill>
              </a:defRPr>
            </a:pPr>
            <a:r>
              <a:t>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11825935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C7864"/>
                </a:solidFill>
              </a:defRPr>
            </a:pPr>
            <a:r>
              <a:t>CUP咖啡 · 知识库搭建实践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443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知识条目入库 · 自检六问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0" y="1188720"/>
            <a:ext cx="27432" cy="5029200"/>
          </a:xfrm>
          <a:prstGeom prst="rect">
            <a:avLst/>
          </a:prstGeom>
          <a:solidFill>
            <a:srgbClr val="F5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280160"/>
            <a:ext cx="512064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32281E"/>
                </a:solidFill>
              </a:defRPr>
            </a:pPr>
            <a:r>
              <a:t>🔖  有身份吗？</a:t>
            </a:r>
          </a:p>
          <a:p>
            <a:pPr>
              <a:spcAft>
                <a:spcPts val="700"/>
              </a:spcAft>
              <a:defRPr sz="1500" b="0">
                <a:solidFill>
                  <a:srgbClr val="32281E"/>
                </a:solidFill>
              </a:defRPr>
            </a:pPr>
          </a:p>
          <a:p>
            <a:pPr>
              <a:spcAft>
                <a:spcPts val="700"/>
              </a:spcAft>
              <a:defRPr sz="1500" b="0">
                <a:solidFill>
                  <a:srgbClr val="32281E"/>
                </a:solidFill>
              </a:defRPr>
            </a:pPr>
            <a:r>
              <a:t>旧版本已标记废弃、不可引用？</a:t>
            </a:r>
          </a:p>
          <a:p>
            <a:pPr>
              <a:spcAft>
                <a:spcPts val="700"/>
              </a:spcAft>
              <a:defRPr sz="1500" b="0">
                <a:solidFill>
                  <a:srgbClr val="32281E"/>
                </a:solidFill>
              </a:defRPr>
            </a:pPr>
            <a:r>
              <a:t>🔒  有机密吗？</a:t>
            </a:r>
          </a:p>
          <a:p>
            <a:pPr>
              <a:spcAft>
                <a:spcPts val="700"/>
              </a:spcAft>
              <a:defRPr sz="1500" b="0">
                <a:solidFill>
                  <a:srgbClr val="32281E"/>
                </a:solidFill>
              </a:defRPr>
            </a:pPr>
          </a:p>
          <a:p>
            <a:pPr>
              <a:spcAft>
                <a:spcPts val="700"/>
              </a:spcAft>
              <a:defRPr sz="1500" b="0">
                <a:solidFill>
                  <a:srgbClr val="32281E"/>
                </a:solidFill>
              </a:defRPr>
            </a:pPr>
            <a:r>
              <a:t>时效标注了「当前」或「归档」？</a:t>
            </a:r>
          </a:p>
          <a:p>
            <a:pPr>
              <a:spcAft>
                <a:spcPts val="700"/>
              </a:spcAft>
              <a:defRPr sz="1500" b="0">
                <a:solidFill>
                  <a:srgbClr val="32281E"/>
                </a:solidFill>
              </a:defRPr>
            </a:pPr>
            <a:r>
              <a:t>📋  有标准吗？</a:t>
            </a:r>
          </a:p>
          <a:p>
            <a:pPr>
              <a:spcAft>
                <a:spcPts val="700"/>
              </a:spcAft>
              <a:defRPr sz="1500" b="0">
                <a:solidFill>
                  <a:srgbClr val="32281E"/>
                </a:solidFill>
              </a:defRPr>
            </a:pPr>
          </a:p>
          <a:p>
            <a:pPr>
              <a:spcAft>
                <a:spcPts val="700"/>
              </a:spcAft>
              <a:defRPr sz="1500" b="0">
                <a:solidFill>
                  <a:srgbClr val="32281E"/>
                </a:solidFill>
              </a:defRPr>
            </a:pPr>
            <a:r>
              <a:t>清洗决策有书面记录可追溯？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1280160"/>
            <a:ext cx="512064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32281E"/>
                </a:solidFill>
              </a:defRPr>
            </a:pPr>
            <a:r>
              <a:t>版本号 + ID + 生效日期已标注？</a:t>
            </a:r>
          </a:p>
          <a:p>
            <a:pPr>
              <a:spcAft>
                <a:spcPts val="700"/>
              </a:spcAft>
              <a:defRPr sz="1500" b="0">
                <a:solidFill>
                  <a:srgbClr val="32281E"/>
                </a:solidFill>
              </a:defRPr>
            </a:pPr>
            <a:r>
              <a:t>🚫  有冲突吗？</a:t>
            </a:r>
          </a:p>
          <a:p>
            <a:pPr>
              <a:spcAft>
                <a:spcPts val="700"/>
              </a:spcAft>
              <a:defRPr sz="1500" b="0">
                <a:solidFill>
                  <a:srgbClr val="32281E"/>
                </a:solidFill>
              </a:defRPr>
            </a:pPr>
          </a:p>
          <a:p>
            <a:pPr>
              <a:spcAft>
                <a:spcPts val="700"/>
              </a:spcAft>
              <a:defRPr sz="1500" b="0">
                <a:solidFill>
                  <a:srgbClr val="32281E"/>
                </a:solidFill>
              </a:defRPr>
            </a:pPr>
            <a:r>
              <a:t>权限等级已分配、已隔离？</a:t>
            </a:r>
          </a:p>
          <a:p>
            <a:pPr>
              <a:spcAft>
                <a:spcPts val="700"/>
              </a:spcAft>
              <a:defRPr sz="1500" b="0">
                <a:solidFill>
                  <a:srgbClr val="32281E"/>
                </a:solidFill>
              </a:defRPr>
            </a:pPr>
            <a:r>
              <a:t>⏰  有过期吗？</a:t>
            </a:r>
          </a:p>
          <a:p>
            <a:pPr>
              <a:spcAft>
                <a:spcPts val="700"/>
              </a:spcAft>
              <a:defRPr sz="1500" b="0">
                <a:solidFill>
                  <a:srgbClr val="32281E"/>
                </a:solidFill>
              </a:defRPr>
            </a:pPr>
          </a:p>
          <a:p>
            <a:pPr>
              <a:spcAft>
                <a:spcPts val="700"/>
              </a:spcAft>
              <a:defRPr sz="1500" b="0">
                <a:solidFill>
                  <a:srgbClr val="32281E"/>
                </a:solidFill>
              </a:defRPr>
            </a:pPr>
            <a:r>
              <a:t>测试数据 vs 正式标准已区分？</a:t>
            </a:r>
          </a:p>
          <a:p>
            <a:pPr>
              <a:spcAft>
                <a:spcPts val="700"/>
              </a:spcAft>
              <a:defRPr sz="1500" b="0">
                <a:solidFill>
                  <a:srgbClr val="32281E"/>
                </a:solidFill>
              </a:defRPr>
            </a:pPr>
            <a:r>
              <a:t>🔄  有记录吗？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1825935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8C7864"/>
                </a:solidFill>
              </a:defRPr>
            </a:pPr>
            <a:r>
              <a:t>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11825935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C7864"/>
                </a:solidFill>
              </a:defRPr>
            </a:pPr>
            <a:r>
              <a:t>CUP咖啡 · 知识库搭建实践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443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核心认识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371600"/>
            <a:ext cx="9997135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32281E"/>
                </a:solidFill>
              </a:defRPr>
            </a:pPr>
            <a:r>
              <a:t>垃圾进，垃圾出 — 输入质量直接决定输出质量</a:t>
            </a:r>
          </a:p>
          <a:p>
            <a:pPr>
              <a:spcAft>
                <a:spcPts val="1000"/>
              </a:spcAft>
              <a:defRPr sz="1700" b="0">
                <a:solidFill>
                  <a:srgbClr val="32281E"/>
                </a:solidFill>
              </a:defRPr>
            </a:pPr>
            <a:r>
              <a:t>清洗不是一次性手术，是需要持续维护的健康管理</a:t>
            </a:r>
          </a:p>
          <a:p>
            <a:pPr>
              <a:spcAft>
                <a:spcPts val="1000"/>
              </a:spcAft>
              <a:defRPr sz="1700" b="0">
                <a:solidFill>
                  <a:srgbClr val="32281E"/>
                </a:solidFill>
              </a:defRPr>
            </a:pPr>
            <a:r>
              <a:t>权限不是限制，而是保护 — 三层隔离防止机密泄露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5120640"/>
            <a:ext cx="10362895" cy="914400"/>
          </a:xfrm>
          <a:prstGeom prst="roundRect">
            <a:avLst/>
          </a:prstGeom>
          <a:solidFill>
            <a:srgbClr val="8B6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每条知识条目，都应携带完整的元数据标签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